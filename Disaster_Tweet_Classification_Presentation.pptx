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2B7E7-FB4A-4A39-B865-A72140AD2581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843E0-4CA4-446A-8D2F-8C7370427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3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843E0-4CA4-446A-8D2F-8C7370427C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8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548640"/>
            <a:ext cx="2377440" cy="2377440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743200"/>
            <a:ext cx="1463040" cy="1463040"/>
          </a:xfrm>
          <a:prstGeom prst="ellipse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4023360"/>
            <a:ext cx="914400" cy="914400"/>
          </a:xfrm>
          <a:prstGeom prst="ellipse">
            <a:avLst/>
          </a:prstGeom>
          <a:solidFill>
            <a:srgbClr val="46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8BDD6"/>
                </a:solidFill>
                <a:latin typeface="Aptos"/>
              </a:defRPr>
            </a:pPr>
            <a:r>
              <a:t>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7680960" cy="1554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Disaster Tweet</a:t>
            </a:r>
          </a:p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64008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D2E0F4"/>
                </a:solidFill>
                <a:latin typeface="Aptos"/>
              </a:defRPr>
            </a:pPr>
            <a:r>
              <a:t>Using TF-IDF and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Problem Statement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Not every tweet mentioning a disaster describes a real emergency.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64008" cy="168249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4828032" cy="12252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Classify tweets as disaster-related or non-disaster-related based on tweet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901952"/>
            <a:ext cx="64008" cy="1682496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9152"/>
            <a:ext cx="4828032" cy="12252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Build an NLP classifier that learns language patterns and predicts one of two classes.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8912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462272"/>
            <a:ext cx="64008" cy="905255"/>
          </a:xfrm>
          <a:prstGeom prst="rect">
            <a:avLst/>
          </a:prstGeom>
          <a:solidFill>
            <a:srgbClr val="24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453542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Target 0 — Non-Disaster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919472"/>
            <a:ext cx="4690872" cy="4480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Tweet is not classified as disaster-related.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38912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462272"/>
            <a:ext cx="64008" cy="905255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453542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Target 1 — Disaster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919472"/>
            <a:ext cx="4690872" cy="4480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Tweet is classified as disaster-related.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Summary from initial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331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768BE"/>
                </a:solidFill>
                <a:latin typeface="Aptos"/>
              </a:defRPr>
            </a:pPr>
            <a:r>
              <a:t>7,613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31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Tweets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146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331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38BDD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331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25146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2331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49970"/>
                </a:solidFill>
                <a:latin typeface="Aptos"/>
              </a:defRPr>
            </a:pPr>
            <a:r>
              <a:t>7,503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560320"/>
            <a:ext cx="2331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Unique texts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828800"/>
            <a:ext cx="25146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19" y="2011680"/>
            <a:ext cx="2331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E691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560320"/>
            <a:ext cx="2331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Duplicate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Dataset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058400" cy="1920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id — record identifier</a:t>
            </a:r>
          </a:p>
          <a:p>
            <a:pPr>
              <a:spcAft>
                <a:spcPts val="5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keyword and location — optional context with missing values</a:t>
            </a:r>
          </a:p>
          <a:p>
            <a:pPr>
              <a:spcAft>
                <a:spcPts val="5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text — tweet content used as model input</a:t>
            </a:r>
          </a:p>
          <a:p>
            <a:pPr>
              <a:spcAft>
                <a:spcPts val="5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target — 0 = non-disaster, 1 = disaster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The dataset contains somewhat more non-disaster tweets.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2203A"/>
                </a:solidFill>
                <a:latin typeface="Aptos"/>
              </a:defRPr>
            </a:pPr>
            <a:r>
              <a:t>Target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5603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2D3C"/>
                </a:solidFill>
                <a:latin typeface="Aptos"/>
              </a:defRPr>
            </a:pPr>
            <a:r>
              <a:t>Non-Disaster (0)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5852160" cy="365760"/>
          </a:xfrm>
          <a:prstGeom prst="roundRect">
            <a:avLst/>
          </a:prstGeom>
          <a:solidFill>
            <a:srgbClr val="E4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3337486" cy="365760"/>
          </a:xfrm>
          <a:prstGeom prst="round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242316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E82"/>
                </a:solidFill>
                <a:latin typeface="Aptos"/>
              </a:defRPr>
            </a:pPr>
            <a:r>
              <a:t>4,342  ·  57.03%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5603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2D3C"/>
                </a:solidFill>
                <a:latin typeface="Aptos"/>
              </a:defRPr>
            </a:pPr>
            <a:r>
              <a:t>Disaster 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5852160" cy="365760"/>
          </a:xfrm>
          <a:prstGeom prst="roundRect">
            <a:avLst/>
          </a:prstGeom>
          <a:solidFill>
            <a:srgbClr val="E4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3520440"/>
            <a:ext cx="2514673" cy="365760"/>
          </a:xfrm>
          <a:prstGeom prst="round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35204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E82"/>
                </a:solidFill>
                <a:latin typeface="Aptos"/>
              </a:defRPr>
            </a:pPr>
            <a:r>
              <a:t>3,271  ·  42.97%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5074920" cy="10058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828032"/>
            <a:ext cx="64008" cy="85953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90118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285232"/>
            <a:ext cx="4690872" cy="4023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61 missing keywords; 2,534 missing locations.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074920" cy="10058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828032"/>
            <a:ext cx="64008" cy="859536"/>
          </a:xfrm>
          <a:prstGeom prst="rect">
            <a:avLst/>
          </a:prstGeom>
          <a:solidFill>
            <a:srgbClr val="24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490118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Tweet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5285232"/>
            <a:ext cx="4690872" cy="4023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Disaster tweets generally have a higher median length.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Preprocessing &amp; TF-IDF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Prepare tweet text for machine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64008" cy="996696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Text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828032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Lowercase text; remove URLs, mentions, punctuation and extra spaces; keep hashtag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10512"/>
            <a:ext cx="64008" cy="996696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828032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Split cleaned text into words for demonstration during preprocessing.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21208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27832"/>
            <a:ext cx="64008" cy="996696"/>
          </a:xfrm>
          <a:prstGeom prst="rect">
            <a:avLst/>
          </a:prstGeom>
          <a:solidFill>
            <a:srgbClr val="24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30098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85032"/>
            <a:ext cx="4828032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Convert cleaned text into numerical features, using up to 5,000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21208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27832"/>
            <a:ext cx="64008" cy="99669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30098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Train-test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685032"/>
            <a:ext cx="4828032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80% training: 6,090 tweets; 20% testing: 1,523 tweets.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The model uses cleaned tweet text only. Keyword and location are explored but not used as model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Three models were trained, evaluated, and tuned.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64008" cy="1682496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3090672" cy="12252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A strong baseline for text classification; chosen as final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01952"/>
            <a:ext cx="64008" cy="168249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59152"/>
            <a:ext cx="3090672" cy="12252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Combines decision trees; performance improved after tuning.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747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901952"/>
            <a:ext cx="64008" cy="1682496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9152"/>
            <a:ext cx="3090672" cy="122529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MLP classifier learns nonlinear patterns from TF-IDF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Tuning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GridSearchCV with 5-fold stratified cross-validation</a:t>
            </a:r>
          </a:p>
          <a:p>
            <a:pPr>
              <a:spcAft>
                <a:spcPts val="5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F1-score used to compare parameter settings</a:t>
            </a:r>
          </a:p>
          <a:p>
            <a:pPr>
              <a:spcAft>
                <a:spcPts val="5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 Pipelines fit TF-IDF within each fold to reduce data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Model 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Test metrics as reported in the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64008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64008" marR="64008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64008" marR="64008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64008" marR="64008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 marL="64008" marR="64008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82.53%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85.53%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71.41%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0.7783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79.38%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79.51%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70.03%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0.7583*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Neural Network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81.81%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81.57%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74.46%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0.7786</a:t>
                      </a:r>
                    </a:p>
                  </a:txBody>
                  <a:tcPr marL="64008" marR="64008"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160520"/>
            <a:ext cx="9144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*Random Forest F1-score after 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5074920" cy="109728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645152"/>
            <a:ext cx="64008" cy="950976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471830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Highest 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102352"/>
            <a:ext cx="4690872" cy="4937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Neural Network: 0.7786, narrowly above Logistic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074920" cy="109728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645152"/>
            <a:ext cx="64008" cy="950976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4718304"/>
            <a:ext cx="470915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Strong overall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102352"/>
            <a:ext cx="4690872" cy="4937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Logistic Regression: highest accuracy, precision, ROC-AUC (0.8725) and AP (0.8667).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Validation &amp; Final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The choice considered multiple metrics and the training–testing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64008" cy="1088136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828032" cy="630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Logistic Regression: 0.8725</a:t>
            </a:r>
          </a:p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Neural Network: 0.8647 | Random Forest: 0.8591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10512"/>
            <a:ext cx="64008" cy="1088136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Average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828032" cy="630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Logistic Regression: 0.8667</a:t>
            </a:r>
          </a:p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Neural Network: 0.8613 | Random Forest: 0.8554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319272"/>
            <a:ext cx="64008" cy="108813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39242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Training–Testing F1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4828032" cy="630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Logistic Regression: 0.0545</a:t>
            </a:r>
          </a:p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Neural Network: 0.0941 | Random Forest: 0.2181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319272"/>
            <a:ext cx="64008" cy="1088136"/>
          </a:xfrm>
          <a:prstGeom prst="rect">
            <a:avLst/>
          </a:prstGeom>
          <a:solidFill>
            <a:srgbClr val="24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39242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Robustness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76472"/>
            <a:ext cx="4828032" cy="630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Predictions remained unchanged when leading/trailing spaces were added.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4241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Final model: Logistic Regression — nearly the same F1-score as the Neural Network, with stronger results on several other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Streamlit Prediction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A local app built in VS Code using the saved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42316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457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768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Enter tweet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1031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User enters tweet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011680"/>
            <a:ext cx="242316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2176272"/>
            <a:ext cx="457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38BD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5176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Clean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063240"/>
            <a:ext cx="21031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Apply the same cleaning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2011680"/>
            <a:ext cx="242316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2176272"/>
            <a:ext cx="457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768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65176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63240"/>
            <a:ext cx="21031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TF-IDF + Logistic Regression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7736" y="2011680"/>
            <a:ext cx="242316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4896" y="2176272"/>
            <a:ext cx="457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38BD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65176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Show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3063240"/>
            <a:ext cx="21031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D3C"/>
                </a:solidFill>
                <a:latin typeface="Aptos"/>
              </a:defRPr>
            </a:pPr>
            <a:r>
              <a:t>Class label and estimated 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Run from the VS Code terminal: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37760"/>
            <a:ext cx="10332720" cy="73152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138928"/>
            <a:ext cx="9601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python -m streamlit run 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82296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An end-to-end NLP classification workflow was developed.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56231"/>
            <a:ext cx="64008" cy="1271016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29384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828032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The Logistic Regression pipeline was selected, saved, loaded, and used for sample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77547"/>
            <a:ext cx="521208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150699"/>
            <a:ext cx="64008" cy="127101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404" y="4150699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rPr dirty="0"/>
              <a:t>Current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" y="4579790"/>
            <a:ext cx="4828032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rPr dirty="0"/>
              <a:t>Predictions do not confirm real-world emergencies; further testing is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548640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64008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8BDD6"/>
                </a:solidFill>
                <a:latin typeface="Aptos"/>
              </a:defRPr>
            </a:pPr>
            <a:r>
              <a:t>Disaster Tweet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2E0F4"/>
                </a:solidFill>
                <a:latin typeface="Aptos"/>
              </a:defRPr>
            </a:pPr>
            <a:r>
              <a:t>NLP  •  TF-IDF  •  Machine Learning  •  Streamlit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914400"/>
            <a:ext cx="1828800" cy="1828800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2560320"/>
            <a:ext cx="1280160" cy="1280160"/>
          </a:xfrm>
          <a:prstGeom prst="ellipse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0" y="3886200"/>
            <a:ext cx="914400" cy="914400"/>
          </a:xfrm>
          <a:prstGeom prst="ellipse">
            <a:avLst/>
          </a:prstGeom>
          <a:solidFill>
            <a:srgbClr val="46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0" y="4389120"/>
            <a:ext cx="640080" cy="640080"/>
          </a:xfrm>
          <a:prstGeom prst="ellipse">
            <a:avLst/>
          </a:prstGeom>
          <a:solidFill>
            <a:srgbClr val="24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45720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ECDE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654</Words>
  <Application>Microsoft Office PowerPoint</Application>
  <PresentationFormat>Widescreen</PresentationFormat>
  <Paragraphs>139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Akansha Shirsat</cp:lastModifiedBy>
  <cp:revision>3</cp:revision>
  <dcterms:created xsi:type="dcterms:W3CDTF">2013-01-27T09:14:16Z</dcterms:created>
  <dcterms:modified xsi:type="dcterms:W3CDTF">2026-10-10T09:10:37Z</dcterms:modified>
  <cp:category/>
</cp:coreProperties>
</file>